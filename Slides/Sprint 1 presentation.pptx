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0" r:id="rId5"/>
    <p:sldId id="263" r:id="rId6"/>
    <p:sldId id="265" r:id="rId7"/>
    <p:sldId id="264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E42"/>
    <a:srgbClr val="E2DED9"/>
    <a:srgbClr val="FDFDFD"/>
    <a:srgbClr val="DE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C2FFA5D-87B4-456A-9821-1D502468CF0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75" d="100"/>
          <a:sy n="75" d="100"/>
        </p:scale>
        <p:origin x="690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D81DDF-98D4-498E-A94D-DDD7A807A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1BFCE-55A1-4C09-B4B5-9359AD6F4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4FA28-26D5-4BDF-9A75-C27596ADE055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EB1F3-97EE-4F0D-B402-E34820EC6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4877F-A04A-4D6A-A0A8-95CC6E2D2A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07CFE-5866-4B40-8953-42375E9B5D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2507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E1D6F-8584-4A53-833D-DCA47225B220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3874D-A20A-4B3E-9C12-F524953D5B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3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7464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7464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13821" y="6370429"/>
            <a:ext cx="3500715" cy="309201"/>
          </a:xfrm>
        </p:spPr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77464" y="6370430"/>
            <a:ext cx="4973915" cy="30920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77464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0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3" name="Straight Connector 32"/>
          <p:cNvCxnSpPr/>
          <p:nvPr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C414FF1F-6558-4E39-87DB-276E44F5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0777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80777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2239" y="2161853"/>
            <a:ext cx="4645152" cy="344859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679" y="2168318"/>
            <a:ext cx="4645152" cy="3441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15607D-9DE2-4687-AAF8-EF2427252A90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2F96D46B-C1B8-46AB-87DF-61A8058B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750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7315" y="1950795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7315" y="2755515"/>
            <a:ext cx="4645152" cy="26444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2486" y="1954249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2486" y="2752737"/>
            <a:ext cx="4645152" cy="26373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84AA55-1960-47F4-BA3C-E97A6F2D0B19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09471694-1220-4CFC-A31F-622E5D3D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17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3955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B55B52-B62C-4800-AAC1-B15AF2FE1F45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3DF0054B-B64C-418E-A1B8-428EE4A1D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A680F6-C147-410B-94DF-19850752D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94656" y="1865037"/>
            <a:ext cx="8802688" cy="31279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02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 </a:t>
            </a:r>
          </a:p>
        </p:txBody>
      </p:sp>
    </p:spTree>
    <p:extLst>
      <p:ext uri="{BB962C8B-B14F-4D97-AF65-F5344CB8AC3E}">
        <p14:creationId xmlns:p14="http://schemas.microsoft.com/office/powerpoint/2010/main" val="377124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246" y="1645522"/>
            <a:ext cx="5807176" cy="384085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909" y="1645522"/>
            <a:ext cx="3600000" cy="383672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1B74F78C-6D32-47C3-ABB2-6E7092A9C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6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allery 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0394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638" y="5144980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02488-4139-4052-B998-251C9C912739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C09F73-0AD6-4A1E-A331-75A00B808982}"/>
              </a:ext>
            </a:extLst>
          </p:cNvPr>
          <p:cNvCxnSpPr/>
          <p:nvPr userDrawn="1"/>
        </p:nvCxnSpPr>
        <p:spPr>
          <a:xfrm>
            <a:off x="1292239" y="1486603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DE9A20D-024F-4A17-9B20-526AA40372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0210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D8F60F-F9DD-4AAC-BF28-C004CCDF2D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3638" y="3128470"/>
            <a:ext cx="3024000" cy="1906565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09FDD8-5B1C-4AAA-8EEC-0A77C9E477D1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95889" y="5144979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6DF0B7E-E17E-4875-966D-4DE67F755B7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06587" y="5144978"/>
            <a:ext cx="3036438" cy="807405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85D963-B130-47E9-AFCC-AEBED2B1155B}"/>
              </a:ext>
            </a:extLst>
          </p:cNvPr>
          <p:cNvCxnSpPr>
            <a:cxnSpLocks/>
          </p:cNvCxnSpPr>
          <p:nvPr userDrawn="1"/>
        </p:nvCxnSpPr>
        <p:spPr>
          <a:xfrm>
            <a:off x="448407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FA9B6CF-713A-4942-BE35-A61AFCDDFD3D}"/>
              </a:ext>
            </a:extLst>
          </p:cNvPr>
          <p:cNvCxnSpPr>
            <a:cxnSpLocks/>
          </p:cNvCxnSpPr>
          <p:nvPr userDrawn="1"/>
        </p:nvCxnSpPr>
        <p:spPr>
          <a:xfrm>
            <a:off x="7757747" y="5144978"/>
            <a:ext cx="0" cy="807405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3809A32-C7A4-4739-994B-BE492F855A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1336675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C1ABD52-D5FE-4FC2-8449-5DA0E528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27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6069" y="6332578"/>
            <a:ext cx="4315852" cy="320123"/>
          </a:xfrm>
        </p:spPr>
        <p:txBody>
          <a:bodyPr/>
          <a:lstStyle>
            <a:lvl1pPr algn="r">
              <a:defRPr/>
            </a:lvl1pPr>
          </a:lstStyle>
          <a:p>
            <a:fld id="{2D202488-4139-4052-B998-251C9C912739}" type="datetimeFigureOut">
              <a:rPr lang="en-US" noProof="0" smtClean="0"/>
              <a:pPr/>
              <a:t>11/14/2025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6332578"/>
            <a:ext cx="5541004" cy="320931"/>
          </a:xfrm>
        </p:spPr>
        <p:txBody>
          <a:bodyPr/>
          <a:lstStyle/>
          <a:p>
            <a:r>
              <a:rPr lang="en-US" noProof="0" dirty="0"/>
              <a:t>Add Footer Here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589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screen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4363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6923" y="634079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D202488-4139-4052-B998-251C9C912739}" type="datetimeFigureOut">
              <a:rPr lang="en-US" noProof="0" smtClean="0"/>
              <a:pPr/>
              <a:t>11/14/2025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4364" y="6339730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Footer Here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587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7" r:id="rId7"/>
    <p:sldLayoutId id="2147483691" r:id="rId8"/>
    <p:sldLayoutId id="2147483692" r:id="rId9"/>
    <p:sldLayoutId id="2147483696" r:id="rId10"/>
    <p:sldLayoutId id="214748369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sa.gov/directorates/stmd/prizes-challenges-crowdsourcing-program/center-of-excellence-for-collaborative-innovation-coeci/the-nasa-rasc-al-2026-competition/" TargetMode="External"/><Relationship Id="rId13" Type="http://schemas.openxmlformats.org/officeDocument/2006/relationships/hyperlink" Target="https://standards.nasa.gov/sites/default/files/standards/KSC/F/0/ksc-df-107_rev_f_07082017.pdf" TargetMode="External"/><Relationship Id="rId18" Type="http://schemas.openxmlformats.org/officeDocument/2006/relationships/hyperlink" Target="https://eng.umd.edu/news/story/umd-students-win-2015-rascal-competition" TargetMode="External"/><Relationship Id="rId3" Type="http://schemas.openxmlformats.org/officeDocument/2006/relationships/hyperlink" Target="https://m2i.aere.iastate.edu/rasc-al/" TargetMode="External"/><Relationship Id="rId21" Type="http://schemas.openxmlformats.org/officeDocument/2006/relationships/hyperlink" Target="https://www.youtube.com/watch?v=AKN6iS5Bw-A" TargetMode="External"/><Relationship Id="rId7" Type="http://schemas.openxmlformats.org/officeDocument/2006/relationships/hyperlink" Target="https://www.nasa.gov/directorates/esdmd/auburn-team-wins-2025-nasa-moon-and-mars-design-competition/" TargetMode="External"/><Relationship Id="rId12" Type="http://schemas.openxmlformats.org/officeDocument/2006/relationships/hyperlink" Target="https://nodis3.gsfc.nasa.gov/OPD_docs/NID_7123_69_.pdf" TargetMode="External"/><Relationship Id="rId17" Type="http://schemas.openxmlformats.org/officeDocument/2006/relationships/hyperlink" Target="https://www.stellarsolutions.com/wp-content/uploads/2019/10/IAC-19-E1.5.3.x50835-RASCAL.pdf" TargetMode="External"/><Relationship Id="rId2" Type="http://schemas.openxmlformats.org/officeDocument/2006/relationships/hyperlink" Target="https://www.competitionsciences.org/competitions/rascal/" TargetMode="External"/><Relationship Id="rId16" Type="http://schemas.openxmlformats.org/officeDocument/2006/relationships/hyperlink" Target="https://www.scribd.com/document/786987507/2025-RASC-AL-Competition-Guidelines" TargetMode="External"/><Relationship Id="rId20" Type="http://schemas.openxmlformats.org/officeDocument/2006/relationships/hyperlink" Target="https://www.youtube.com/watch?v=1KsaPWpDJow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asa.gov/centers-and-facilities/langley/nasas-rasc-al-competition-selects-2024-winners/" TargetMode="External"/><Relationship Id="rId11" Type="http://schemas.openxmlformats.org/officeDocument/2006/relationships/hyperlink" Target="https://ntrs.nasa.gov/api/citations/20110015353/downloads/20110015353.pdf" TargetMode="External"/><Relationship Id="rId5" Type="http://schemas.openxmlformats.org/officeDocument/2006/relationships/hyperlink" Target="https://www.nasa.gov/centers-and-facilities/langley/students-develop-innovative-lunar-exploration-concepts-in-nasas-artemis-competition/" TargetMode="External"/><Relationship Id="rId15" Type="http://schemas.openxmlformats.org/officeDocument/2006/relationships/hyperlink" Target="https://nustars.org/2026-rasc-al" TargetMode="External"/><Relationship Id="rId10" Type="http://schemas.openxmlformats.org/officeDocument/2006/relationships/hyperlink" Target="https://nodis3.gsfc.nasa.gov/OPD_Docs/NAII_1450.3_.pdf" TargetMode="External"/><Relationship Id="rId19" Type="http://schemas.openxmlformats.org/officeDocument/2006/relationships/hyperlink" Target="https://news.vt.edu/articles/2024/06/eng-aoe-nasa-rascal-draupnir.html" TargetMode="External"/><Relationship Id="rId4" Type="http://schemas.openxmlformats.org/officeDocument/2006/relationships/hyperlink" Target="https://www.lpi.usra.edu/lpi/contribution_docs/LPI-001152.pdf" TargetMode="External"/><Relationship Id="rId9" Type="http://schemas.openxmlformats.org/officeDocument/2006/relationships/hyperlink" Target="https://myemail.constantcontact.com/NASA-EXPRESS----Your-STEM-Connection-for-Sept--25--2025.html?soid=1131598650811&amp;aid=zBocBvE2s3A" TargetMode="External"/><Relationship Id="rId14" Type="http://schemas.openxmlformats.org/officeDocument/2006/relationships/hyperlink" Target="https://www.nsf.gov/policies/pappg/23-1/ch-2-proposal-preparation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BCF363-1123-45B1-8A9A-ABCDA40EF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3575164"/>
            <a:ext cx="8637072" cy="977621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Rudy Cera Jr.</a:t>
            </a:r>
          </a:p>
          <a:p>
            <a:endParaRPr lang="en-US" dirty="0"/>
          </a:p>
        </p:txBody>
      </p:sp>
      <p:pic>
        <p:nvPicPr>
          <p:cNvPr id="5" name="Graphic 4" descr="Brain in head icon&#10;">
            <a:extLst>
              <a:ext uri="{FF2B5EF4-FFF2-40B4-BE49-F238E27FC236}">
                <a16:creationId xmlns:a16="http://schemas.microsoft.com/office/drawing/2014/main" id="{D011E263-3212-4780-A140-E652B108B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07471" y="1989000"/>
            <a:ext cx="1440000" cy="14400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27D0A61-BF7E-9408-4D29-F1D48B5BCA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777464" y="1193758"/>
            <a:ext cx="769855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ckwell" panose="02060603020205020403" pitchFamily="18" charset="0"/>
              </a:rPr>
              <a:t>14 - RASC-AL Proposal Requirements &amp;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41042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2" cstate="screen">
            <a:alphaModFix amt="4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sz="2800" b="1" dirty="0">
                <a:latin typeface="Rockwell" panose="02060603020205020403" pitchFamily="18" charset="0"/>
              </a:rPr>
              <a:t>Scoring Criteria &amp; Evaluation Matrix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Graphic 3" descr="Lightbulb icon">
            <a:extLst>
              <a:ext uri="{FF2B5EF4-FFF2-40B4-BE49-F238E27FC236}">
                <a16:creationId xmlns:a16="http://schemas.microsoft.com/office/drawing/2014/main" id="{5E124F8C-3984-4EEC-9BA8-3B25573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8262" y="206686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857" y="1790700"/>
            <a:ext cx="9645781" cy="3675645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Rockwell" panose="02060603020205020403" pitchFamily="18" charset="0"/>
              </a:rPr>
              <a:t>RASC-AL proposals are scored on: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Innovation &amp; technical merit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Mission alignment (theme requirements)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Realism in technical assumptions &amp; cost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Systems integration &amp; trade study analysis</a:t>
            </a:r>
          </a:p>
          <a:p>
            <a:r>
              <a:rPr lang="en-US" dirty="0">
                <a:latin typeface="Rockwell" panose="02060603020205020403" pitchFamily="18" charset="0"/>
              </a:rPr>
              <a:t>Phase 1 and Phase 2 have different weighting: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Phase 1: Proposal depth, novelty, research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Phase 2: Technical paper quality, oral presentation, demonstration</a:t>
            </a:r>
          </a:p>
          <a:p>
            <a:r>
              <a:rPr lang="en-US" dirty="0">
                <a:latin typeface="Rockwell" panose="02060603020205020403" pitchFamily="18" charset="0"/>
              </a:rPr>
              <a:t>Judges expect documented requirements, quantified performance, and credible technology readiness assessments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9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CD3E-5E33-4EB5-A2CE-C636605E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3" y="804519"/>
            <a:ext cx="9603275" cy="1049235"/>
          </a:xfrm>
        </p:spPr>
        <p:txBody>
          <a:bodyPr/>
          <a:lstStyle/>
          <a:p>
            <a:r>
              <a:rPr lang="en-US" b="1" dirty="0">
                <a:latin typeface="Rockwell" panose="02060603020205020403" pitchFamily="18" charset="0"/>
              </a:rPr>
              <a:t>What Makes a Proposal Stand Out</a:t>
            </a:r>
          </a:p>
        </p:txBody>
      </p:sp>
      <p:pic>
        <p:nvPicPr>
          <p:cNvPr id="5" name="Graphic 4" descr="Man and Woman icon">
            <a:extLst>
              <a:ext uri="{FF2B5EF4-FFF2-40B4-BE49-F238E27FC236}">
                <a16:creationId xmlns:a16="http://schemas.microsoft.com/office/drawing/2014/main" id="{2DED0F48-76A7-437D-9746-E2DF97A1CB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3742" y="216211"/>
            <a:ext cx="1122450" cy="11224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199F-A274-44C6-BF37-784A855E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Winning submissions showcase: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Clear problem definition tied to mission needs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Novel solutions with specific technical advances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Quantified metrics/performance targets</a:t>
            </a:r>
          </a:p>
          <a:p>
            <a:pPr lvl="1"/>
            <a:r>
              <a:rPr lang="en-US" dirty="0">
                <a:latin typeface="Rockwell" panose="02060603020205020403" pitchFamily="18" charset="0"/>
              </a:rPr>
              <a:t>Systems-level thinking—designs solve multiple challenges</a:t>
            </a:r>
          </a:p>
          <a:p>
            <a:r>
              <a:rPr lang="en-US" dirty="0">
                <a:latin typeface="Rockwell" panose="02060603020205020403" pitchFamily="18" charset="0"/>
              </a:rPr>
              <a:t>Standouts also present strong trade studies and consistent, unified messaging across all materials.</a:t>
            </a:r>
          </a:p>
          <a:p>
            <a:pPr lvl="0"/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3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978-9605-417C-951F-53F4926C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798974"/>
            <a:ext cx="9610182" cy="601226"/>
          </a:xfrm>
        </p:spPr>
        <p:txBody>
          <a:bodyPr/>
          <a:lstStyle/>
          <a:p>
            <a:r>
              <a:rPr lang="en-US" b="1" dirty="0">
                <a:latin typeface="Rockwell" panose="02060603020205020403" pitchFamily="18" charset="0"/>
              </a:rPr>
              <a:t>Common Mistakes to Avoid</a:t>
            </a:r>
          </a:p>
        </p:txBody>
      </p:sp>
      <p:pic>
        <p:nvPicPr>
          <p:cNvPr id="7" name="Graphic 6" descr="Gears icon">
            <a:extLst>
              <a:ext uri="{FF2B5EF4-FFF2-40B4-BE49-F238E27FC236}">
                <a16:creationId xmlns:a16="http://schemas.microsoft.com/office/drawing/2014/main" id="{DA9595F8-50AF-4C85-9BC5-B52646E11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16904" y="243287"/>
            <a:ext cx="1122450" cy="112245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6B87E-83DC-455A-94FE-38965890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0908" y="1645522"/>
            <a:ext cx="9496835" cy="436883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Lack of preliminary engineering analysis or quantitative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Vague tech assumptions—not quoting Technology Readiness Levels (TRLs) or development pathways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Unrealistic or unexplained budget/schedule estimates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Weak trade study documentation (not comparing alternatives)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0"/>
              </a:rPr>
              <a:t>Inconsistent storytelling between proposal, paper, prototype, and presentation.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09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F222A-0050-42E6-8C3E-86E3C365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909" y="506186"/>
            <a:ext cx="9610182" cy="894014"/>
          </a:xfrm>
        </p:spPr>
        <p:txBody>
          <a:bodyPr>
            <a:noAutofit/>
          </a:bodyPr>
          <a:lstStyle/>
          <a:p>
            <a:r>
              <a:rPr lang="en-US" b="1" dirty="0">
                <a:latin typeface="Rockwell" panose="02060603020205020403" pitchFamily="18" charset="0"/>
              </a:rPr>
              <a:t>Best Practices for Papers, Budgets &amp; Demonstrations</a:t>
            </a:r>
          </a:p>
        </p:txBody>
      </p:sp>
      <p:pic>
        <p:nvPicPr>
          <p:cNvPr id="10" name="Graphic 9" descr="Star icon">
            <a:extLst>
              <a:ext uri="{FF2B5EF4-FFF2-40B4-BE49-F238E27FC236}">
                <a16:creationId xmlns:a16="http://schemas.microsoft.com/office/drawing/2014/main" id="{F76D2371-447B-414B-9273-61F2CA39A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7703" y="280289"/>
            <a:ext cx="1044000" cy="1044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D5DDD4-B30F-43B5-9BA0-190CC29E96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0908" y="1617663"/>
            <a:ext cx="9618391" cy="3977594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Technical papers: Brief intro/needs statement, requirements flow-down, design details, trade study, tech assessment, cost &amp; risk analysis</a:t>
            </a:r>
          </a:p>
          <a:p>
            <a:r>
              <a:rPr lang="en-US" dirty="0">
                <a:latin typeface="Rockwell" panose="02060603020205020403" pitchFamily="18" charset="0"/>
              </a:rPr>
              <a:t>Budgets: Use detailed breakdowns (WBS), real labor rates, cost/schedule contingency (10–25% margins), tech maturity costs</a:t>
            </a:r>
          </a:p>
          <a:p>
            <a:r>
              <a:rPr lang="en-US" dirty="0">
                <a:latin typeface="Rockwell" panose="02060603020205020403" pitchFamily="18" charset="0"/>
              </a:rPr>
              <a:t>Demonstrations &amp; Presentations:</a:t>
            </a:r>
          </a:p>
          <a:p>
            <a:pPr lvl="1"/>
            <a:r>
              <a:rPr lang="en-US" sz="2000" dirty="0">
                <a:latin typeface="Rockwell" panose="02060603020205020403" pitchFamily="18" charset="0"/>
              </a:rPr>
              <a:t>Prototypes show key risk reduction, align with written design</a:t>
            </a:r>
          </a:p>
          <a:p>
            <a:pPr lvl="1"/>
            <a:r>
              <a:rPr lang="en-US" sz="2000" dirty="0">
                <a:latin typeface="Rockwell" panose="02060603020205020403" pitchFamily="18" charset="0"/>
              </a:rPr>
              <a:t>Use visuals, teamwork, focused Q&amp;A responses, refer to technical details during forum</a:t>
            </a:r>
          </a:p>
          <a:p>
            <a:pPr marL="0" indent="0">
              <a:buNone/>
            </a:pPr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9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7EBD72-9C33-9CD2-331B-D2D77BC72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055" y="1597572"/>
            <a:ext cx="10116207" cy="461929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latin typeface="Rockwell" panose="02060603020205020403" pitchFamily="18" charset="0"/>
              </a:rPr>
              <a:t>Summary of Key Takeaways for Project HERMES</a:t>
            </a:r>
            <a:endParaRPr lang="en-US" dirty="0">
              <a:latin typeface="Rockwell" panose="02060603020205020403" pitchFamily="18" charset="0"/>
            </a:endParaRPr>
          </a:p>
          <a:p>
            <a:r>
              <a:rPr lang="en-US" dirty="0">
                <a:latin typeface="Rockwell" panose="02060603020205020403" pitchFamily="18" charset="0"/>
              </a:rPr>
              <a:t>Theme 1: Communications, Position, Navigation, and Timing (CPNT) Architectures for Mars Surface Operations, our proposal should: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Clearly define CPNT requirements</a:t>
            </a:r>
            <a:r>
              <a:rPr lang="en-US" dirty="0">
                <a:latin typeface="Rockwell" panose="02060603020205020403" pitchFamily="18" charset="0"/>
              </a:rPr>
              <a:t> for Mars surface operations (latency, accuracy, coverage, redundancy) and trace all design choices back to these requirements.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Identify genuine technical innovations</a:t>
            </a:r>
            <a:r>
              <a:rPr lang="en-US" dirty="0">
                <a:latin typeface="Rockwell" panose="02060603020205020403" pitchFamily="18" charset="0"/>
              </a:rPr>
              <a:t>: Rather than simply proposing standard Earth-based communication networks scaled to Mars, propose novel approaches (e.g., innovative relay architectures, autonomous repair systems, AI-optimized routing, biological or novel material innovations).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Conduct thorough trade studies</a:t>
            </a:r>
            <a:r>
              <a:rPr lang="en-US" dirty="0">
                <a:latin typeface="Rockwell" panose="02060603020205020403" pitchFamily="18" charset="0"/>
              </a:rPr>
              <a:t> on architectural alternatives, quantifying performance, cost, and schedule differences.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Integrate data acquisition and tracking</a:t>
            </a:r>
            <a:r>
              <a:rPr lang="en-US" dirty="0">
                <a:latin typeface="Rockwell" panose="02060603020205020403" pitchFamily="18" charset="0"/>
              </a:rPr>
              <a:t> as a core design feature—not an afterthought. Show how our CPNT system collects, validates, and processes positioning and timing data in real-time.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Include realistic budgets and schedules</a:t>
            </a:r>
            <a:r>
              <a:rPr lang="en-US" dirty="0">
                <a:latin typeface="Rockwell" panose="02060603020205020403" pitchFamily="18" charset="0"/>
              </a:rPr>
              <a:t> with detailed WBS breakdowns and learning curve assumptions.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Identify and mitigate top risks</a:t>
            </a:r>
            <a:r>
              <a:rPr lang="en-US" dirty="0">
                <a:latin typeface="Rockwell" panose="02060603020205020403" pitchFamily="18" charset="0"/>
              </a:rPr>
              <a:t> explicitly, showing contingency planning for communication failures or timing disruptions.</a:t>
            </a:r>
          </a:p>
          <a:p>
            <a:pPr lvl="0"/>
            <a:r>
              <a:rPr lang="en-US" b="1" dirty="0">
                <a:latin typeface="Rockwell" panose="02060603020205020403" pitchFamily="18" charset="0"/>
              </a:rPr>
              <a:t>Demonstrate team collaboration</a:t>
            </a:r>
            <a:r>
              <a:rPr lang="en-US" dirty="0">
                <a:latin typeface="Rockwell" panose="02060603020205020403" pitchFamily="18" charset="0"/>
              </a:rPr>
              <a:t> during the forum with consistent messaging, all members speaking, and confident responses to technical questions.</a:t>
            </a:r>
          </a:p>
          <a:p>
            <a:r>
              <a:rPr lang="en-US" dirty="0">
                <a:latin typeface="Rockwell" panose="02060603020205020403" pitchFamily="18" charset="0"/>
              </a:rPr>
              <a:t>The winning proposals at RASC-AL consistently demonstrate that </a:t>
            </a:r>
            <a:r>
              <a:rPr lang="en-US" b="1" dirty="0">
                <a:latin typeface="Rockwell" panose="02060603020205020403" pitchFamily="18" charset="0"/>
              </a:rPr>
              <a:t>innovation + rigor + realism + clear communication = success</a:t>
            </a:r>
            <a:r>
              <a:rPr lang="en-US" dirty="0">
                <a:latin typeface="Rockwell" panose="02060603020205020403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5775A0-ECE2-F03D-4E92-DD3357000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237326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References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C3F0FD-BCAA-F499-60E2-124CE7175178}"/>
              </a:ext>
            </a:extLst>
          </p:cNvPr>
          <p:cNvSpPr txBox="1"/>
          <p:nvPr/>
        </p:nvSpPr>
        <p:spPr>
          <a:xfrm>
            <a:off x="1126671" y="1741714"/>
            <a:ext cx="972638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</a:p>
          <a:p>
            <a:r>
              <a:rPr lang="en-US" sz="900" dirty="0">
                <a:latin typeface="Rockwell" panose="02060603020205020403" pitchFamily="18" charset="0"/>
              </a:rPr>
              <a:t>Competition Sciences. (2025, August 12). </a:t>
            </a:r>
            <a:r>
              <a:rPr lang="en-US" sz="900" i="1" dirty="0">
                <a:latin typeface="Rockwell" panose="02060603020205020403" pitchFamily="18" charset="0"/>
              </a:rPr>
              <a:t>2026 NASA RASC-AL Competition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2"/>
              </a:rPr>
              <a:t>https://www.competitionsciences.org/competitions/rascal/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Iowa State University Make to Innovate. (2025, September 23). </a:t>
            </a:r>
            <a:r>
              <a:rPr lang="en-US" sz="900" i="1" dirty="0">
                <a:latin typeface="Rockwell" panose="02060603020205020403" pitchFamily="18" charset="0"/>
              </a:rPr>
              <a:t>RASC-AL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3"/>
              </a:rPr>
              <a:t>https://m2i.aere.iastate.edu/rasc-al/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Lunar and Planetary Institute. (n.d.). </a:t>
            </a:r>
            <a:r>
              <a:rPr lang="en-US" sz="900" i="1" dirty="0">
                <a:latin typeface="Rockwell" panose="02060603020205020403" pitchFamily="18" charset="0"/>
              </a:rPr>
              <a:t>RASC-AL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4"/>
              </a:rPr>
              <a:t>https://www.lpi.usra.edu/lpi/contribution_docs/LPI-001152.pdf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Aeronautics and Space Administration. (2024, October 29). </a:t>
            </a:r>
            <a:r>
              <a:rPr lang="en-US" sz="900" i="1" dirty="0">
                <a:latin typeface="Rockwell" panose="02060603020205020403" pitchFamily="18" charset="0"/>
              </a:rPr>
              <a:t>Students develop innovative lunar exploration concepts in NASA's Artemis competition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5"/>
              </a:rPr>
              <a:t>https://www.nasa.gov/centers-and-facilities/langley/students-develop-innovative-lunar-exploration-concepts-in-nasas-artemis-competition/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Aeronautics and Space Administration. (2024, June 12). </a:t>
            </a:r>
            <a:r>
              <a:rPr lang="en-US" sz="900" i="1" dirty="0">
                <a:latin typeface="Rockwell" panose="02060603020205020403" pitchFamily="18" charset="0"/>
              </a:rPr>
              <a:t>NASA's RASC-AL Competition selects 2024 winners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6"/>
              </a:rPr>
              <a:t>https://www.nasa.gov/centers-and-facilities/langley/nasas-rasc-al-competition-selects-2024-winners/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Aeronautics and Space Administration. (2025, July 1). </a:t>
            </a:r>
            <a:r>
              <a:rPr lang="en-US" sz="900" i="1" dirty="0">
                <a:latin typeface="Rockwell" panose="02060603020205020403" pitchFamily="18" charset="0"/>
              </a:rPr>
              <a:t>Auburn team wins 2025 NASA moon and mars design competition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7"/>
              </a:rPr>
              <a:t>https://www.nasa.gov/directorates/esdmd/auburn-team-wins-2025-nasa-moon-and-mars-design-competition/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Aeronautics and Space Administration. (2025, August 28). </a:t>
            </a:r>
            <a:r>
              <a:rPr lang="en-US" sz="900" i="1" dirty="0">
                <a:latin typeface="Rockwell" panose="02060603020205020403" pitchFamily="18" charset="0"/>
              </a:rPr>
              <a:t>The NASA RASC-AL 2026 competition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8"/>
              </a:rPr>
              <a:t>https://www.nasa.gov/directorates/stmd/prizes-challenges-crowdsourcing-program/center-of-excellence-for-collaborative-innovation-coeci/the-nasa-rasc-al-2026-competition/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Aeronautics and Space Administration. (2024, December 31). </a:t>
            </a:r>
            <a:r>
              <a:rPr lang="en-US" sz="900" i="1" dirty="0">
                <a:latin typeface="Rockwell" panose="02060603020205020403" pitchFamily="18" charset="0"/>
              </a:rPr>
              <a:t>NASA EXPRESS – Your STEM connection for Sept. 25, 2025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9"/>
              </a:rPr>
              <a:t>https://myemail.constantcontact.com/NASA-EXPRESS----Your-STEM-Connection-for-Sept--25--2025.html?soid=1131598650811&amp;aid=zBocBvE2s3A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Aeronautics and Space Administration Goddard Space Flight Center. (n.d.). </a:t>
            </a:r>
            <a:r>
              <a:rPr lang="en-US" sz="900" i="1" dirty="0">
                <a:latin typeface="Rockwell" panose="02060603020205020403" pitchFamily="18" charset="0"/>
              </a:rPr>
              <a:t>NAII 1450.3, Guidelines and standards for NASA letters and memoranda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0"/>
              </a:rPr>
              <a:t>https://nodis3.gsfc.nasa.gov/OPD_Docs/NAII_1450.3_.pdf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NASA Technical Reports Server. (n.d.). </a:t>
            </a:r>
            <a:r>
              <a:rPr lang="en-US" sz="900" i="1" dirty="0">
                <a:latin typeface="Rockwell" panose="02060603020205020403" pitchFamily="18" charset="0"/>
              </a:rPr>
              <a:t>Interim report - Design, cost, and performance analyses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1"/>
              </a:rPr>
              <a:t>https://ntrs.nasa.gov/api/citations/20110015353/downloads/20110015353.pdf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NASA Technical Reports Server. (n.d.). </a:t>
            </a:r>
            <a:r>
              <a:rPr lang="en-US" sz="900" i="1" dirty="0">
                <a:latin typeface="Rockwell" panose="02060603020205020403" pitchFamily="18" charset="0"/>
              </a:rPr>
              <a:t>NASA systems engineering processes and requirements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2"/>
              </a:rPr>
              <a:t>https://nodis3.gsfc.nasa.gov/OPD_docs/NID_7123_69_.pdf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NASA Standards. (2017, July 7). </a:t>
            </a:r>
            <a:r>
              <a:rPr lang="en-US" sz="900" i="1" dirty="0">
                <a:latin typeface="Rockwell" panose="02060603020205020403" pitchFamily="18" charset="0"/>
              </a:rPr>
              <a:t>Technical documentation style guide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3"/>
              </a:rPr>
              <a:t>https://standards.nasa.gov/sites/default/files/standards/KSC/F/0/ksc-df-107_rev_f_07082017.pdf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National Science Foundation. (2021, December 31). </a:t>
            </a:r>
            <a:r>
              <a:rPr lang="en-US" sz="900" i="1" dirty="0">
                <a:latin typeface="Rockwell" panose="02060603020205020403" pitchFamily="18" charset="0"/>
              </a:rPr>
              <a:t>Chapter II: Proposal preparation instructions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4"/>
              </a:rPr>
              <a:t>https://www.nsf.gov/policies/pappg/23-1/ch-2-proposal-preparation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NUSTARS. (n.d.). </a:t>
            </a:r>
            <a:r>
              <a:rPr lang="en-US" sz="900" i="1" dirty="0">
                <a:latin typeface="Rockwell" panose="02060603020205020403" pitchFamily="18" charset="0"/>
              </a:rPr>
              <a:t>2026 RASC-AL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5"/>
              </a:rPr>
              <a:t>https://nustars.org/2026-rasc-al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Scribd. (2025, October 30). </a:t>
            </a:r>
            <a:r>
              <a:rPr lang="en-US" sz="900" i="1" dirty="0">
                <a:latin typeface="Rockwell" panose="02060603020205020403" pitchFamily="18" charset="0"/>
              </a:rPr>
              <a:t>2025 RASC AL competition guidelines</a:t>
            </a:r>
            <a:r>
              <a:rPr lang="en-US" sz="900" dirty="0">
                <a:latin typeface="Rockwell" panose="02060603020205020403" pitchFamily="18" charset="0"/>
              </a:rPr>
              <a:t> [PDF]. </a:t>
            </a:r>
            <a:r>
              <a:rPr lang="en-US" sz="900" u="sng" dirty="0">
                <a:latin typeface="Rockwell" panose="02060603020205020403" pitchFamily="18" charset="0"/>
                <a:hlinkClick r:id="rId16"/>
              </a:rPr>
              <a:t>https://www.scribd.com/document/786987507/2025-RASC-AL-Competition-Guidelines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Stellar Solutions. (2019, October 24). </a:t>
            </a:r>
            <a:r>
              <a:rPr lang="en-US" sz="900" i="1" dirty="0">
                <a:latin typeface="Rockwell" panose="02060603020205020403" pitchFamily="18" charset="0"/>
              </a:rPr>
              <a:t>IAC-19-E1.5.3.x50835-RASCAL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7"/>
              </a:rPr>
              <a:t>https://www.stellarsolutions.com/wp-content/uploads/2019/10/IAC-19-E1.5.3.x50835-RASCAL.pdf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University of Maryland. (2015, June 25). </a:t>
            </a:r>
            <a:r>
              <a:rPr lang="en-US" sz="900" i="1" dirty="0">
                <a:latin typeface="Rockwell" panose="02060603020205020403" pitchFamily="18" charset="0"/>
              </a:rPr>
              <a:t>UMD students win 2015 RASCAL competition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8"/>
              </a:rPr>
              <a:t>https://eng.umd.edu/news/story/umd-students-win-2015-rascal-competition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Virginia Tech News. (2024, June 24). </a:t>
            </a:r>
            <a:r>
              <a:rPr lang="en-US" sz="900" i="1" dirty="0">
                <a:latin typeface="Rockwell" panose="02060603020205020403" pitchFamily="18" charset="0"/>
              </a:rPr>
              <a:t>Virginia Tech student design team takes top honors at NASA RASC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19"/>
              </a:rPr>
              <a:t>https://news.vt.edu/articles/2024/06/eng-aoe-nasa-rascal-draupnir.html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YouTube. (2024, March 7). </a:t>
            </a:r>
            <a:r>
              <a:rPr lang="en-US" sz="900" i="1" dirty="0">
                <a:latin typeface="Rockwell" panose="02060603020205020403" pitchFamily="18" charset="0"/>
              </a:rPr>
              <a:t>2024 RASC-AL proposal – South Dakota State University: POSEID-N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20"/>
              </a:rPr>
              <a:t>https://www.youtube.com/watch?v=1KsaPWpDJow</a:t>
            </a:r>
            <a:endParaRPr lang="en-US" sz="900" dirty="0">
              <a:latin typeface="Rockwell" panose="02060603020205020403" pitchFamily="18" charset="0"/>
            </a:endParaRPr>
          </a:p>
          <a:p>
            <a:r>
              <a:rPr lang="en-US" sz="900" dirty="0">
                <a:latin typeface="Rockwell" panose="02060603020205020403" pitchFamily="18" charset="0"/>
              </a:rPr>
              <a:t>YouTube. (2025, September 28). </a:t>
            </a:r>
            <a:r>
              <a:rPr lang="en-US" sz="900" i="1" dirty="0">
                <a:latin typeface="Rockwell" panose="02060603020205020403" pitchFamily="18" charset="0"/>
              </a:rPr>
              <a:t>Phase 2 tutorial: Prototype solution submission template</a:t>
            </a:r>
            <a:r>
              <a:rPr lang="en-US" sz="900" dirty="0">
                <a:latin typeface="Rockwell" panose="02060603020205020403" pitchFamily="18" charset="0"/>
              </a:rPr>
              <a:t>. </a:t>
            </a:r>
            <a:r>
              <a:rPr lang="en-US" sz="900" u="sng" dirty="0">
                <a:latin typeface="Rockwell" panose="02060603020205020403" pitchFamily="18" charset="0"/>
                <a:hlinkClick r:id="rId21"/>
              </a:rPr>
              <a:t>https://www.youtube.com/watch?v=AKN6iS5Bw-A</a:t>
            </a:r>
            <a:endParaRPr lang="en-US" sz="900" dirty="0">
              <a:latin typeface="Rockwell" panose="020606030202050204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577E-C7A4-F5B3-9B1C-7C5A7A25D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3573F-2B00-2BFD-0F4A-EDF22D5F5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Rudy Cera jr.</a:t>
            </a:r>
          </a:p>
        </p:txBody>
      </p:sp>
    </p:spTree>
    <p:extLst>
      <p:ext uri="{BB962C8B-B14F-4D97-AF65-F5344CB8AC3E}">
        <p14:creationId xmlns:p14="http://schemas.microsoft.com/office/powerpoint/2010/main" val="17282497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Custom 10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84582C"/>
      </a:accent2>
      <a:accent3>
        <a:srgbClr val="002060"/>
      </a:accent3>
      <a:accent4>
        <a:srgbClr val="586EA6"/>
      </a:accent4>
      <a:accent5>
        <a:srgbClr val="586EA6"/>
      </a:accent5>
      <a:accent6>
        <a:srgbClr val="6892A0"/>
      </a:accent6>
      <a:hlink>
        <a:srgbClr val="B71E42"/>
      </a:hlink>
      <a:folHlink>
        <a:srgbClr val="586EA6"/>
      </a:folHlink>
    </a:clrScheme>
    <a:fontScheme name="Default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>
    <a:spDef>
      <a:spPr>
        <a:solidFill>
          <a:srgbClr val="B71E4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31750"/>
      </a:spPr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66921596_win32_fixed.potx" id="{F81442EF-054B-43F2-9D42-4AC72B9AFB37}" vid="{A487745B-CFD4-4F4A-9F31-FD463ACA8A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1C8CC54CABF469BD7DEFD0DCA6E05" ma:contentTypeVersion="3" ma:contentTypeDescription="Create a new document." ma:contentTypeScope="" ma:versionID="bb0421e50c1c63c0a9dc64bc7ab2d93a">
  <xsd:schema xmlns:xsd="http://www.w3.org/2001/XMLSchema" xmlns:xs="http://www.w3.org/2001/XMLSchema" xmlns:p="http://schemas.microsoft.com/office/2006/metadata/properties" xmlns:ns2="c6fd1fd1-c55d-486c-91d4-4b3db1ef3c19" targetNamespace="http://schemas.microsoft.com/office/2006/metadata/properties" ma:root="true" ma:fieldsID="80a63a2c5927b797fee3bf95fce76a0f" ns2:_="">
    <xsd:import namespace="c6fd1fd1-c55d-486c-91d4-4b3db1ef3c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fd1fd1-c55d-486c-91d4-4b3db1ef3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FC7E94-4254-4308-888C-15A9F162E8D3}"/>
</file>

<file path=customXml/itemProps2.xml><?xml version="1.0" encoding="utf-8"?>
<ds:datastoreItem xmlns:ds="http://schemas.openxmlformats.org/officeDocument/2006/customXml" ds:itemID="{BE96EC19-0E93-424B-8358-0388472900C7}"/>
</file>

<file path=customXml/itemProps3.xml><?xml version="1.0" encoding="utf-8"?>
<ds:datastoreItem xmlns:ds="http://schemas.openxmlformats.org/officeDocument/2006/customXml" ds:itemID="{4EB4E595-C2CD-4B3E-9B43-306BAA787B31}"/>
</file>

<file path=docProps/app.xml><?xml version="1.0" encoding="utf-8"?>
<Properties xmlns="http://schemas.openxmlformats.org/officeDocument/2006/extended-properties" xmlns:vt="http://schemas.openxmlformats.org/officeDocument/2006/docPropsVTypes">
  <Template>My invention</Template>
  <TotalTime>18</TotalTime>
  <Words>1193</Words>
  <Application>Microsoft Office PowerPoint</Application>
  <PresentationFormat>Widescreen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Gill Sans MT</vt:lpstr>
      <vt:lpstr>Rockwell</vt:lpstr>
      <vt:lpstr>Tahoma</vt:lpstr>
      <vt:lpstr>Gallery</vt:lpstr>
      <vt:lpstr>14 - RASC-AL Proposal Requirements &amp; Best Practices</vt:lpstr>
      <vt:lpstr>Scoring Criteria &amp; Evaluation Matrix </vt:lpstr>
      <vt:lpstr>What Makes a Proposal Stand Out</vt:lpstr>
      <vt:lpstr>Common Mistakes to Avoid</vt:lpstr>
      <vt:lpstr>Best Practices for Papers, Budgets &amp; Demonstrations</vt:lpstr>
      <vt:lpstr>Key takeaways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Cera</dc:creator>
  <cp:lastModifiedBy>Rudy Cera</cp:lastModifiedBy>
  <cp:revision>1</cp:revision>
  <dcterms:created xsi:type="dcterms:W3CDTF">2025-11-14T23:10:19Z</dcterms:created>
  <dcterms:modified xsi:type="dcterms:W3CDTF">2025-11-14T23:28:34Z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0x0101003551C8CC54CABF469BD7DEFD0DCA6E05</vt:lpwstr>
  </property>
</Properties>
</file>