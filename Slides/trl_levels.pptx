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  <p:sldId id="258" r:id="rId6"/>
    <p:sldId id="261" r:id="rId7"/>
    <p:sldId id="262" r:id="rId8"/>
    <p:sldId id="265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54"/>
    <p:restoredTop sz="94645"/>
  </p:normalViewPr>
  <p:slideViewPr>
    <p:cSldViewPr snapToGrid="0" snapToObjects="1">
      <p:cViewPr varScale="1">
        <p:scale>
          <a:sx n="80" d="100"/>
          <a:sy n="80" d="100"/>
        </p:scale>
        <p:origin x="208" y="1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Blank"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664973"/>
            <a:ext cx="7772400" cy="1466291"/>
          </a:xfrm>
        </p:spPr>
        <p:txBody>
          <a:bodyPr anchor="t" anchorCtr="0"/>
          <a:lstStyle>
            <a:lvl1pPr algn="ctr">
              <a:defRPr sz="4500" b="1" i="0" cap="none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7562418-96E8-2A4F-BC34-65F71D2C2E75}"/>
              </a:ext>
            </a:extLst>
          </p:cNvPr>
          <p:cNvGrpSpPr/>
          <p:nvPr userDrawn="1"/>
        </p:nvGrpSpPr>
        <p:grpSpPr>
          <a:xfrm>
            <a:off x="3381322" y="4571999"/>
            <a:ext cx="2381356" cy="1632515"/>
            <a:chOff x="4428154" y="3921547"/>
            <a:chExt cx="3330175" cy="228296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A8F4E40-A2A8-3845-A7BC-A70B2BE1615A}"/>
                </a:ext>
              </a:extLst>
            </p:cNvPr>
            <p:cNvGrpSpPr/>
            <p:nvPr userDrawn="1"/>
          </p:nvGrpSpPr>
          <p:grpSpPr>
            <a:xfrm>
              <a:off x="5391912" y="3921547"/>
              <a:ext cx="1408176" cy="1538935"/>
              <a:chOff x="5183237" y="4557650"/>
              <a:chExt cx="1408176" cy="1538935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DA45FC5-0C12-A24C-87EF-D5E5C843A91A}"/>
                  </a:ext>
                </a:extLst>
              </p:cNvPr>
              <p:cNvSpPr/>
              <p:nvPr/>
            </p:nvSpPr>
            <p:spPr>
              <a:xfrm>
                <a:off x="5183237" y="4557650"/>
                <a:ext cx="1408176" cy="1538935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/>
                  <a:t> </a:t>
                </a:r>
              </a:p>
            </p:txBody>
          </p:sp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647751CA-AB85-AD4C-AE99-09F065ACBE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78407" y="4756048"/>
                <a:ext cx="1012320" cy="1135773"/>
              </a:xfrm>
              <a:prstGeom prst="rect">
                <a:avLst/>
              </a:prstGeom>
            </p:spPr>
          </p:pic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D9A299-3B04-474A-A43F-2949E7EA41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4428154" y="5666564"/>
              <a:ext cx="3330175" cy="5379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34047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Presentation Title"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664973"/>
            <a:ext cx="7772400" cy="1466291"/>
          </a:xfrm>
        </p:spPr>
        <p:txBody>
          <a:bodyPr anchor="t" anchorCtr="0"/>
          <a:lstStyle>
            <a:lvl1pPr algn="ctr">
              <a:defRPr sz="4500" b="1" i="0" cap="none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152971"/>
            <a:ext cx="6858000" cy="828294"/>
          </a:xfrm>
        </p:spPr>
        <p:txBody>
          <a:bodyPr/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Sub-topic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B5B5FA-38C5-9149-9DA4-F4028C9667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27484" y="3009504"/>
            <a:ext cx="4675187" cy="334963"/>
          </a:xfrm>
        </p:spPr>
        <p:txBody>
          <a:bodyPr>
            <a:noAutofit/>
          </a:bodyPr>
          <a:lstStyle>
            <a:lvl1pPr marL="0" indent="0" algn="ctr">
              <a:buNone/>
              <a:defRPr sz="15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Name of Presenter and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932339FA-DA32-A74D-BF3D-0857B2EA0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5802" y="3470505"/>
            <a:ext cx="3713203" cy="652749"/>
          </a:xfrm>
        </p:spPr>
        <p:txBody>
          <a:bodyPr anchor="ctr">
            <a:normAutofit/>
          </a:bodyPr>
          <a:lstStyle>
            <a:lvl1pPr marL="0" indent="0" algn="r">
              <a:buNone/>
              <a:defRPr sz="13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College Name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C4E1DC7-B849-7A47-B34C-CA67D6F4605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31147" y="3470505"/>
            <a:ext cx="3713203" cy="652749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Department or program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AB3D67C-B153-C645-A39A-00A7DAE198D6}"/>
              </a:ext>
            </a:extLst>
          </p:cNvPr>
          <p:cNvGrpSpPr/>
          <p:nvPr userDrawn="1"/>
        </p:nvGrpSpPr>
        <p:grpSpPr>
          <a:xfrm>
            <a:off x="3381322" y="4850966"/>
            <a:ext cx="2381356" cy="1632516"/>
            <a:chOff x="4428154" y="3921547"/>
            <a:chExt cx="3330175" cy="228296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4D9EA0D-1D68-9440-B3BE-BD5C55B95E11}"/>
                </a:ext>
              </a:extLst>
            </p:cNvPr>
            <p:cNvGrpSpPr/>
            <p:nvPr userDrawn="1"/>
          </p:nvGrpSpPr>
          <p:grpSpPr>
            <a:xfrm>
              <a:off x="5391912" y="3921547"/>
              <a:ext cx="1408176" cy="1538935"/>
              <a:chOff x="5183237" y="4557650"/>
              <a:chExt cx="1408176" cy="1538935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85F0FEB-2A54-704E-9CA8-5EACEB32DA8A}"/>
                  </a:ext>
                </a:extLst>
              </p:cNvPr>
              <p:cNvSpPr/>
              <p:nvPr/>
            </p:nvSpPr>
            <p:spPr>
              <a:xfrm>
                <a:off x="5183237" y="4557650"/>
                <a:ext cx="1408176" cy="1538935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/>
                  <a:t> </a:t>
                </a:r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76096C86-8430-4542-9130-724B459177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78407" y="4756048"/>
                <a:ext cx="1012320" cy="1135773"/>
              </a:xfrm>
              <a:prstGeom prst="rect">
                <a:avLst/>
              </a:prstGeom>
            </p:spPr>
          </p:pic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1458BD4-C1E5-4B48-9C01-7F4AE75B2C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4428154" y="5666564"/>
              <a:ext cx="3330175" cy="5379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3265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lide"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1661769"/>
            <a:ext cx="7772400" cy="1466291"/>
          </a:xfrm>
        </p:spPr>
        <p:txBody>
          <a:bodyPr anchor="t" anchorCtr="0"/>
          <a:lstStyle>
            <a:lvl1pPr algn="ctr">
              <a:defRPr sz="4500" b="1" i="0" cap="none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149767"/>
            <a:ext cx="6858000" cy="828294"/>
          </a:xfrm>
        </p:spPr>
        <p:txBody>
          <a:bodyPr/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74343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resentation 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BBC21DA-BB37-9447-AE99-A5671996BE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329339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CD90CA-AF2E-8449-8E84-D6C56326C15A}"/>
              </a:ext>
            </a:extLst>
          </p:cNvPr>
          <p:cNvSpPr/>
          <p:nvPr/>
        </p:nvSpPr>
        <p:spPr>
          <a:xfrm>
            <a:off x="3293391" y="0"/>
            <a:ext cx="58506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D5B3CF-5810-EF40-8451-52B286E53328}"/>
              </a:ext>
            </a:extLst>
          </p:cNvPr>
          <p:cNvSpPr/>
          <p:nvPr/>
        </p:nvSpPr>
        <p:spPr>
          <a:xfrm>
            <a:off x="3180196" y="0"/>
            <a:ext cx="33214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3EFAC79-FBE2-DF48-8813-6E47C2638C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09547" y="510445"/>
            <a:ext cx="5025224" cy="1080247"/>
          </a:xfrm>
        </p:spPr>
        <p:txBody>
          <a:bodyPr anchor="t" anchorCtr="0">
            <a:noAutofit/>
          </a:bodyPr>
          <a:lstStyle>
            <a:lvl1pPr algn="ctr">
              <a:defRPr sz="3000" b="1" i="0" cap="none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183B407-5E80-E943-A014-BDCB3E4C4FA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05587" y="1598800"/>
            <a:ext cx="4135996" cy="828294"/>
          </a:xfrm>
        </p:spPr>
        <p:txBody>
          <a:bodyPr/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Sub-topic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0FF14268-F6DF-AE49-B746-8341CDE325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67133" y="2494699"/>
            <a:ext cx="3812907" cy="334963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Name of Presenter and Title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C5AD891-4FCC-0446-93A5-2DB1541B04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5558" y="2932980"/>
            <a:ext cx="3713203" cy="65274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College Name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9EBC9F5-88EB-8443-B256-F5EF5358DF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65556" y="3865608"/>
            <a:ext cx="3713203" cy="65274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Department or program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474E4EE-A9AB-F74A-BA9F-547C75AA6EF1}"/>
              </a:ext>
            </a:extLst>
          </p:cNvPr>
          <p:cNvCxnSpPr>
            <a:cxnSpLocks/>
          </p:cNvCxnSpPr>
          <p:nvPr/>
        </p:nvCxnSpPr>
        <p:spPr>
          <a:xfrm flipH="1">
            <a:off x="5186168" y="3706773"/>
            <a:ext cx="247197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5A85373-871A-E541-8F8C-B40596554BE5}"/>
              </a:ext>
            </a:extLst>
          </p:cNvPr>
          <p:cNvGrpSpPr/>
          <p:nvPr userDrawn="1"/>
        </p:nvGrpSpPr>
        <p:grpSpPr>
          <a:xfrm>
            <a:off x="4654568" y="4742720"/>
            <a:ext cx="3347204" cy="1869942"/>
            <a:chOff x="2301428" y="3862555"/>
            <a:chExt cx="4541144" cy="2536946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CC6DD35-5E5A-4146-B262-96EBC14807C4}"/>
                </a:ext>
              </a:extLst>
            </p:cNvPr>
            <p:cNvGrpSpPr/>
            <p:nvPr userDrawn="1"/>
          </p:nvGrpSpPr>
          <p:grpSpPr>
            <a:xfrm>
              <a:off x="3799086" y="3862555"/>
              <a:ext cx="1408176" cy="1538935"/>
              <a:chOff x="5183237" y="4557650"/>
              <a:chExt cx="1408176" cy="153893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1C1F035-5C5D-4D45-89DC-B68221E4AAE2}"/>
                  </a:ext>
                </a:extLst>
              </p:cNvPr>
              <p:cNvSpPr/>
              <p:nvPr/>
            </p:nvSpPr>
            <p:spPr>
              <a:xfrm>
                <a:off x="5183237" y="4557650"/>
                <a:ext cx="1408176" cy="1538935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/>
                  <a:t> </a:t>
                </a:r>
              </a:p>
            </p:txBody>
          </p:sp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8076CB4F-6132-074E-8B18-3E6BE7D400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78407" y="4756048"/>
                <a:ext cx="1012320" cy="1135773"/>
              </a:xfrm>
              <a:prstGeom prst="rect">
                <a:avLst/>
              </a:prstGeom>
            </p:spPr>
          </p:pic>
        </p:grp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0893F3D-60C2-2444-BD3E-C188C277E8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491740" y="5508222"/>
              <a:ext cx="4160520" cy="59436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A2649042-7375-1E47-92F9-8BD14D315D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2301428" y="5945387"/>
              <a:ext cx="4541144" cy="4541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4423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1D5B3CF-5810-EF40-8451-52B286E53328}"/>
              </a:ext>
            </a:extLst>
          </p:cNvPr>
          <p:cNvSpPr/>
          <p:nvPr/>
        </p:nvSpPr>
        <p:spPr>
          <a:xfrm>
            <a:off x="0" y="5029201"/>
            <a:ext cx="914400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3EFAC79-FBE2-DF48-8813-6E47C2638C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476999"/>
            <a:ext cx="7772400" cy="1466291"/>
          </a:xfrm>
        </p:spPr>
        <p:txBody>
          <a:bodyPr anchor="t" anchorCtr="0"/>
          <a:lstStyle>
            <a:lvl1pPr algn="ctr">
              <a:defRPr sz="4500" b="1" i="0" cap="none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183B407-5E80-E943-A014-BDCB3E4C4FA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1964997"/>
            <a:ext cx="6858000" cy="828294"/>
          </a:xfrm>
        </p:spPr>
        <p:txBody>
          <a:bodyPr/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Subtopic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0FF14268-F6DF-AE49-B746-8341CDE325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27484" y="2816319"/>
            <a:ext cx="4675187" cy="334963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Name of Presenter and Title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C5AD891-4FCC-0446-93A5-2DB1541B04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5802" y="3277318"/>
            <a:ext cx="3713203" cy="652749"/>
          </a:xfrm>
        </p:spPr>
        <p:txBody>
          <a:bodyPr anchor="ctr">
            <a:normAutofit/>
          </a:bodyPr>
          <a:lstStyle>
            <a:lvl1pPr marL="0" indent="0" algn="r">
              <a:buNone/>
              <a:defRPr sz="13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College Name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9EBC9F5-88EB-8443-B256-F5EF5358DF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31147" y="3277318"/>
            <a:ext cx="3713203" cy="652749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/>
              <a:t>Department or program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F1FEA00-B214-AF4C-B8C4-3A82EA4AB2F4}"/>
              </a:ext>
            </a:extLst>
          </p:cNvPr>
          <p:cNvGrpSpPr/>
          <p:nvPr userDrawn="1"/>
        </p:nvGrpSpPr>
        <p:grpSpPr>
          <a:xfrm>
            <a:off x="3364314" y="4280007"/>
            <a:ext cx="2415372" cy="1632515"/>
            <a:chOff x="4884927" y="4571999"/>
            <a:chExt cx="2415372" cy="163251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A9CE167-A505-D349-A0F4-F77811BEABD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884927" y="5814339"/>
              <a:ext cx="2415372" cy="390175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433D900-85D8-9843-A60D-7BA69B18B350}"/>
                </a:ext>
              </a:extLst>
            </p:cNvPr>
            <p:cNvGrpSpPr/>
            <p:nvPr userDrawn="1"/>
          </p:nvGrpSpPr>
          <p:grpSpPr>
            <a:xfrm>
              <a:off x="5594490" y="4571999"/>
              <a:ext cx="1006965" cy="1100469"/>
              <a:chOff x="5183237" y="4557650"/>
              <a:chExt cx="1408176" cy="1538935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4FF2BE7-1FDF-994A-8167-87896B880EDD}"/>
                  </a:ext>
                </a:extLst>
              </p:cNvPr>
              <p:cNvSpPr/>
              <p:nvPr/>
            </p:nvSpPr>
            <p:spPr>
              <a:xfrm>
                <a:off x="5183237" y="4557650"/>
                <a:ext cx="1408176" cy="1538935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/>
                  <a:t> </a:t>
                </a:r>
              </a:p>
            </p:txBody>
          </p: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A8880FB9-D661-3540-92B4-3B0FC9ED91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78407" y="4756048"/>
                <a:ext cx="1012320" cy="113577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978757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Divider Slide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8"/>
            <a:ext cx="7886700" cy="73651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Topic</a:t>
            </a:r>
          </a:p>
        </p:txBody>
      </p:sp>
    </p:spTree>
    <p:extLst>
      <p:ext uri="{BB962C8B-B14F-4D97-AF65-F5344CB8AC3E}">
        <p14:creationId xmlns:p14="http://schemas.microsoft.com/office/powerpoint/2010/main" val="13715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5163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428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36928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36928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144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0936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0936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16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5E47562-0B4E-E143-B002-83649551E0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4105" y="690563"/>
            <a:ext cx="3560763" cy="42672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307360FE-8B74-B742-AC27-153E1A1C9CD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57346" y="690563"/>
            <a:ext cx="3560763" cy="42672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58810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59522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4"/>
            <a:ext cx="2949178" cy="3525253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3056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0"/>
            <a:ext cx="4629150" cy="462731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1"/>
            <a:ext cx="2949178" cy="3557337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2609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BB596-5451-4E43-A774-80A751BE5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DB06050-AE7F-E242-97DC-DE3BC4D88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70333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42E-E29E-8442-94C1-AC54D70DD5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5414" y="2107021"/>
            <a:ext cx="7887058" cy="383182"/>
          </a:xfrm>
        </p:spPr>
        <p:txBody>
          <a:bodyPr>
            <a:sp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62B999D7-A76D-B741-B745-30280A6B16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414" y="2604240"/>
            <a:ext cx="7887058" cy="383182"/>
          </a:xfrm>
        </p:spPr>
        <p:txBody>
          <a:bodyPr>
            <a:sp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College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5CA1FD1C-6FE7-DD48-9178-AFF6A8C555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5414" y="3101459"/>
            <a:ext cx="7887058" cy="383182"/>
          </a:xfrm>
        </p:spPr>
        <p:txBody>
          <a:bodyPr>
            <a:sp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Department or Program Name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56EF9B5F-920F-8E4F-872D-C4D4C2C6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414" y="3598678"/>
            <a:ext cx="7887058" cy="383182"/>
          </a:xfrm>
        </p:spPr>
        <p:txBody>
          <a:bodyPr>
            <a:sp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Website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B0EB2389-F780-2D4A-B2A3-2E10B3549B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414" y="4095897"/>
            <a:ext cx="7887058" cy="383182"/>
          </a:xfrm>
        </p:spPr>
        <p:txBody>
          <a:bodyPr>
            <a:sp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Phone Number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5444114-988B-6D44-B79C-537507DF2B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414" y="4593118"/>
            <a:ext cx="7887058" cy="383182"/>
          </a:xfrm>
        </p:spPr>
        <p:txBody>
          <a:bodyPr>
            <a:sp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ED535D-CF14-414F-994D-2D6881DC565E}"/>
              </a:ext>
            </a:extLst>
          </p:cNvPr>
          <p:cNvSpPr txBox="1"/>
          <p:nvPr/>
        </p:nvSpPr>
        <p:spPr>
          <a:xfrm>
            <a:off x="615415" y="978794"/>
            <a:ext cx="6081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1622798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3670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431B1E-8998-0146-AF70-B53ABD36F462}"/>
              </a:ext>
            </a:extLst>
          </p:cNvPr>
          <p:cNvSpPr/>
          <p:nvPr userDrawn="1"/>
        </p:nvSpPr>
        <p:spPr>
          <a:xfrm>
            <a:off x="0" y="5758252"/>
            <a:ext cx="9144000" cy="1099751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2D0EDF-6793-944A-8664-9CB2EFC03F6E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77562" y="5919726"/>
            <a:ext cx="692363" cy="7767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27A22B-EB27-1644-86A5-45EE4003A33F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508567" y="6228234"/>
            <a:ext cx="2984393" cy="30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63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4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873BFF-6CD0-7440-ACD2-28A3CD11F6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HERMES Technology Readiness Levels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1A4AEB2-82A6-BE44-91CE-5159DD0B7F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Nasa </a:t>
            </a:r>
            <a:r>
              <a:rPr lang="en-US" dirty="0" err="1"/>
              <a:t>rasc</a:t>
            </a:r>
            <a:r>
              <a:rPr lang="en-US" dirty="0"/>
              <a:t>-al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390D60-6718-774C-ADF0-CABBFCA5E6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Mario Saenz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8A305E-8237-3243-833B-F9786E3A2D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College of Engineering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AA7A6DC-968A-924B-8A98-368524945E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NASA RASC-AL project </a:t>
            </a:r>
          </a:p>
        </p:txBody>
      </p:sp>
    </p:spTree>
    <p:extLst>
      <p:ext uri="{BB962C8B-B14F-4D97-AF65-F5344CB8AC3E}">
        <p14:creationId xmlns:p14="http://schemas.microsoft.com/office/powerpoint/2010/main" val="3118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1F05FB-68E1-2C4E-A627-67E8635E1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TRL scale?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C1EC60-CEEA-3F44-97D4-A22CA7E43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NASA’s measure of technology maturity</a:t>
            </a:r>
          </a:p>
          <a:p>
            <a:endParaRPr lang="en-US" dirty="0"/>
          </a:p>
          <a:p>
            <a:r>
              <a:rPr lang="en-US" dirty="0"/>
              <a:t>It is split into 9 levels, each describing a different stage from idea to fully proven and tested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616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AAC4D-6C11-CADC-4811-121DF4B16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7EC9DD-26BD-61C4-BB8C-9A10C183D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9 TRL levels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BAB5F198-0E6B-D7D8-D15B-0B7999086B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4288782"/>
              </p:ext>
            </p:extLst>
          </p:nvPr>
        </p:nvGraphicFramePr>
        <p:xfrm>
          <a:off x="628650" y="1599881"/>
          <a:ext cx="78867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9709969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130193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926491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Environment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032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Basic principles observed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127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Concept formulated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645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Proof-of-concept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Analytical/lab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4538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Component validated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547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Component validated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Relevant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549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Prototype demonstrated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Operational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71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 prototype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117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Flight-qualified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804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Flight-proven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787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3368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FE0BE-B898-94A2-BB82-571C87611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73E4B7-5E66-D451-F696-CE0AA10C1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required for our application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7350A8-5305-D990-04F0-E7886726C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critical technologies must reach TRL level 6 by Preliminary Design Review</a:t>
            </a:r>
          </a:p>
          <a:p>
            <a:endParaRPr lang="en-US" dirty="0"/>
          </a:p>
          <a:p>
            <a:r>
              <a:rPr lang="en-US" dirty="0"/>
              <a:t>Why?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Demonstrated as an integrated prototype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Tested under mission-relevant conditions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Reduced risk of late changes or cost increases</a:t>
            </a:r>
          </a:p>
        </p:txBody>
      </p:sp>
    </p:spTree>
    <p:extLst>
      <p:ext uri="{BB962C8B-B14F-4D97-AF65-F5344CB8AC3E}">
        <p14:creationId xmlns:p14="http://schemas.microsoft.com/office/powerpoint/2010/main" val="3116246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87913-C28E-BE14-E570-A2381C807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B53F0E-4454-8DEB-6050-3E5DE85AA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between TRL 4, 5, and 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0C99AE-F307-A65A-A5D1-6B9ADA647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396557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TRL 4 – Lab validation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Components/breadboards tested in lab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Early prototypes, low fidelity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TRL 5 – Relevant environment validation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Components tested in an environment that approximates key mission conditions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Higher fidelity tests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TRL 6 – Prototype demonstration in relevant environment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Integrated system/subsystem (not just components)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End-to-end prototype operating under mission-like conditions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Reliable performance demonstration across scenarios, including error cases</a:t>
            </a:r>
          </a:p>
        </p:txBody>
      </p:sp>
    </p:spTree>
    <p:extLst>
      <p:ext uri="{BB962C8B-B14F-4D97-AF65-F5344CB8AC3E}">
        <p14:creationId xmlns:p14="http://schemas.microsoft.com/office/powerpoint/2010/main" val="724710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72CF4-5489-AC99-282E-111767E2C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5D4909-E51B-0BC6-0719-D5642D40D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testing is needed to advance in the TRL scale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30B3FB-993F-6FA7-A2FC-87F43141E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378004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TRL 4 -&gt; 5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Test components in relevant environments (balloon flight, LoRa outdoor)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TRL 5 -&gt; 6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Demonstrate an integrated HERMES prototype under realistic conditions (full system, e.g. balloon, power, antenna,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Mars analog environments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Full end-to-end data flow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TRL 7-9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Demonstration in space environments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537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7591A-6987-CECA-99D0-311C15FAD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356698-C3E6-E946-41AC-7E51D8A04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space qualified means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7373CC-C192-FEF5-247A-13017EC9F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378004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Environmental qualification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Vibration and shock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Thermal vacuum cycling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Radiation testing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Parts and process control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NASA-approved EEE parts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Environmental stress testing, lot screening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Documentation and test reporting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Design files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Qualification test reports</a:t>
            </a:r>
          </a:p>
        </p:txBody>
      </p:sp>
    </p:spTree>
    <p:extLst>
      <p:ext uri="{BB962C8B-B14F-4D97-AF65-F5344CB8AC3E}">
        <p14:creationId xmlns:p14="http://schemas.microsoft.com/office/powerpoint/2010/main" val="4028849208"/>
      </p:ext>
    </p:extLst>
  </p:cSld>
  <p:clrMapOvr>
    <a:masterClrMapping/>
  </p:clrMapOvr>
</p:sld>
</file>

<file path=ppt/theme/theme1.xml><?xml version="1.0" encoding="utf-8"?>
<a:theme xmlns:a="http://schemas.openxmlformats.org/drawingml/2006/main" name="NMSU_2019">
  <a:themeElements>
    <a:clrScheme name="NMSU_2019">
      <a:dk1>
        <a:srgbClr val="000000"/>
      </a:dk1>
      <a:lt1>
        <a:srgbClr val="FEFFFF"/>
      </a:lt1>
      <a:dk2>
        <a:srgbClr val="8C0B41"/>
      </a:dk2>
      <a:lt2>
        <a:srgbClr val="E7E6E6"/>
      </a:lt2>
      <a:accent1>
        <a:srgbClr val="A7BABE"/>
      </a:accent1>
      <a:accent2>
        <a:srgbClr val="CFC7BD"/>
      </a:accent2>
      <a:accent3>
        <a:srgbClr val="A5A5A5"/>
      </a:accent3>
      <a:accent4>
        <a:srgbClr val="FEFFFF"/>
      </a:accent4>
      <a:accent5>
        <a:srgbClr val="5B9BD5"/>
      </a:accent5>
      <a:accent6>
        <a:srgbClr val="8C0B41"/>
      </a:accent6>
      <a:hlink>
        <a:srgbClr val="50B9F2"/>
      </a:hlink>
      <a:folHlink>
        <a:srgbClr val="6D6E7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MSU_2019" id="{F3039E45-AD72-2745-91F4-8F90602B2064}" vid="{36F2A75D-F91E-5C47-8EE5-76E117038AA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51C8CC54CABF469BD7DEFD0DCA6E05" ma:contentTypeVersion="3" ma:contentTypeDescription="Create a new document." ma:contentTypeScope="" ma:versionID="bb0421e50c1c63c0a9dc64bc7ab2d93a">
  <xsd:schema xmlns:xsd="http://www.w3.org/2001/XMLSchema" xmlns:xs="http://www.w3.org/2001/XMLSchema" xmlns:p="http://schemas.microsoft.com/office/2006/metadata/properties" xmlns:ns2="c6fd1fd1-c55d-486c-91d4-4b3db1ef3c19" targetNamespace="http://schemas.microsoft.com/office/2006/metadata/properties" ma:root="true" ma:fieldsID="80a63a2c5927b797fee3bf95fce76a0f" ns2:_="">
    <xsd:import namespace="c6fd1fd1-c55d-486c-91d4-4b3db1ef3c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fd1fd1-c55d-486c-91d4-4b3db1ef3c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41CEE5B-593C-4B78-BCA7-5ACE4B90B1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7E8D738-582E-4652-A3D3-E54356EE3325}"/>
</file>

<file path=customXml/itemProps3.xml><?xml version="1.0" encoding="utf-8"?>
<ds:datastoreItem xmlns:ds="http://schemas.openxmlformats.org/officeDocument/2006/customXml" ds:itemID="{9A8824ED-DC96-4CF3-A5E6-B44A0D5AADFF}">
  <ds:schemaRefs>
    <ds:schemaRef ds:uri="http://schemas.microsoft.com/office/2006/metadata/properties"/>
    <ds:schemaRef ds:uri="http://schemas.microsoft.com/office/infopath/2007/PartnerControls"/>
    <ds:schemaRef ds:uri="ead5e06c-ea83-4267-93dd-8052bbf6033b"/>
    <ds:schemaRef ds:uri="c2a35c80-fa78-4fa7-95e2-355173bbaa7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NMSU_2019</Template>
  <TotalTime>387</TotalTime>
  <Words>302</Words>
  <Application>Microsoft Macintosh PowerPoint</Application>
  <PresentationFormat>On-screen Show (4:3)</PresentationFormat>
  <Paragraphs>82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Tahoma</vt:lpstr>
      <vt:lpstr>NMSU_2019</vt:lpstr>
      <vt:lpstr>HERMES Technology Readiness Levels</vt:lpstr>
      <vt:lpstr>What is the TRL scale?</vt:lpstr>
      <vt:lpstr>The 9 TRL levels</vt:lpstr>
      <vt:lpstr>Level required for our application</vt:lpstr>
      <vt:lpstr>Differences between TRL 4, 5, and 6</vt:lpstr>
      <vt:lpstr>What testing is needed to advance in the TRL scale</vt:lpstr>
      <vt:lpstr>What space qualified means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Mario Saenz</cp:lastModifiedBy>
  <cp:revision>15</cp:revision>
  <dcterms:created xsi:type="dcterms:W3CDTF">2018-09-13T15:10:43Z</dcterms:created>
  <dcterms:modified xsi:type="dcterms:W3CDTF">2025-11-15T00:10:34Z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0x0101003551C8CC54CABF469BD7DEFD0DCA6E05</vt:lpwstr>
  </property>
</Properties>
</file>